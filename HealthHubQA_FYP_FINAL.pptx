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88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'My project investigates how to detect and reduce hallucinations in AI systems used for healthcare question answering. I built a system called HealthHubQA.'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'LLMs hallucinate — they make things up. In healthcare that is dangerous.</a:t>
            </a:r>
          </a:p>
          <a:p>
            <a:endParaRPr/>
          </a:p>
          <a:p>
            <a:r>
              <a:t>My solution is RAG. Think of it as giving a student an open-book exam instead of closed-book. The AI retrieves the top 3 most relevant medical papers, reads them, then answers.</a:t>
            </a:r>
          </a:p>
          <a:p>
            <a:endParaRPr/>
          </a:p>
          <a:p>
            <a:r>
              <a:t>Here is the pipeline: question comes in, retriever finds relevant papers using sentence embeddings, passes them to the AI, which outputs yes/no/maybe, and we evaluate against ground truth.</a:t>
            </a:r>
          </a:p>
          <a:p>
            <a:endParaRPr/>
          </a:p>
          <a:p>
            <a:r>
              <a:t>I tested 4 models: Flan-T5 as a baseline, BioBART for medical domain knowledge, DistilBART to test a weaker architecture, and Phi-3 Mini as a compact local option.</a:t>
            </a:r>
          </a:p>
          <a:p>
            <a:endParaRPr/>
          </a:p>
          <a:p>
            <a:r>
              <a:t>All tested on 100 PubMedQA medical questions (10 for Phi-3 due to CPU constraints).'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'This is my key slide — the results.</a:t>
            </a:r>
          </a:p>
          <a:p>
            <a:endParaRPr/>
          </a:p>
          <a:p>
            <a:r>
              <a:t>Flan-T5 went from 40% to 55% with RAG — a 15-point improvement. It is instruction-tuned, meaning it was trained to follow instructions. So when you give it medical papers and say answer based on these, it knows what to do.</a:t>
            </a:r>
          </a:p>
          <a:p>
            <a:endParaRPr/>
          </a:p>
          <a:p>
            <a:r>
              <a:t>BioBART stayed at 58% both with and without RAG. This model was already pre-trained on biomedical literature — it already has medical knowledge baked in. RAG does not add new information.</a:t>
            </a:r>
          </a:p>
          <a:p>
            <a:endParaRPr/>
          </a:p>
          <a:p>
            <a:r>
              <a:t>DistilBART actually DROPPED from 39% to 32%. This is my most interesting finding. DistilBART is a summarisation model — when you give it extra medical context, it tries to summarise instead of answering. The extra text confused it. This shows RAG is NOT a one-size-fits-all solution.</a:t>
            </a:r>
          </a:p>
          <a:p>
            <a:endParaRPr/>
          </a:p>
          <a:p>
            <a:r>
              <a:t>Phi-3 improved from 30% to 40% but only on 10 samples due to CPU limits. Promising but needs more testing.</a:t>
            </a:r>
          </a:p>
          <a:p>
            <a:endParaRPr/>
          </a:p>
          <a:p>
            <a:r>
              <a:t>The take-away: RAG helps models trained to follow instructions, but not all architectures can handle extra context.'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'My key findings:</a:t>
            </a:r>
          </a:p>
          <a:p>
            <a:endParaRPr/>
          </a:p>
          <a:p>
            <a:r>
              <a:t>First — RAG helps instruction-tuned models. Flan-T5 gained 15 points. These models are trained to follow instructions, so they use the retrieved context properly.</a:t>
            </a:r>
          </a:p>
          <a:p>
            <a:endParaRPr/>
          </a:p>
          <a:p>
            <a:r>
              <a:t>Second — RAG can actually hurt the wrong architecture. DistilBART dropped 7 points. It is a summarisation model that gets confused by extra context.</a:t>
            </a:r>
          </a:p>
          <a:p>
            <a:endParaRPr/>
          </a:p>
          <a:p>
            <a:r>
              <a:t>Third — domain pre-training is a strong alternative. BioBART reached 58% without any retrieval because medical knowledge is already in its weights.</a:t>
            </a:r>
          </a:p>
          <a:p>
            <a:endParaRPr/>
          </a:p>
          <a:p>
            <a:r>
              <a:t>Fourth — practical constraints matter. Llama 3 needed 4.6GB RAM which my laptop could not handle, so I switched to Phi-3 Mini at 2.2GB.</a:t>
            </a:r>
          </a:p>
          <a:p>
            <a:endParaRPr/>
          </a:p>
          <a:p>
            <a:r>
              <a:t>I also solved real engineering problems — FAISS crashed, a tokenizer broke, API credits ran out. Each challenge led to a better solution.</a:t>
            </a:r>
          </a:p>
          <a:p>
            <a:endParaRPr/>
          </a:p>
          <a:p>
            <a:r>
              <a:t>My work builds on Lewis et al. who introduced RAG, and Zuo &amp; Jiang for medical hallucination benchmarking.'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'Three conclusions:</a:t>
            </a:r>
          </a:p>
          <a:p>
            <a:endParaRPr/>
          </a:p>
          <a:p>
            <a:r>
              <a:t>First — RAG works for instruction-tuned models. Flan-T5 gained 15 points.</a:t>
            </a:r>
          </a:p>
          <a:p>
            <a:r>
              <a:t>Second — RAG is not universal. DistilBART got worse.</a:t>
            </a:r>
          </a:p>
          <a:p>
            <a:r>
              <a:t>Third — domain pre-training like BioBART is a strong alternative.</a:t>
            </a:r>
          </a:p>
          <a:p>
            <a:endParaRPr/>
          </a:p>
          <a:p>
            <a:r>
              <a:t>My contribution: proving that RAG effectiveness depends on model architecture.</a:t>
            </a:r>
          </a:p>
          <a:p>
            <a:endParaRPr/>
          </a:p>
          <a:p>
            <a:r>
              <a:t>Future extensions include self-reflection loops, more datasets, direct hallucination metrics, a web demo, GPU-scale testing, and clinical safety scoring.</a:t>
            </a:r>
          </a:p>
          <a:p>
            <a:endParaRPr/>
          </a:p>
          <a:p>
            <a:r>
              <a:t>Thank you. Happy to take questions.'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92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2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43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4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89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18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1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3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3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91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3455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179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8956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6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37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3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438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4183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lang="en-GB" sz="2800" b="1" dirty="0"/>
              <a:t>Evaluating the Effectiveness of Retrieval-Augmented Generation for Mitigating Hallucinations in Biomedical Question Answering Systems </a:t>
            </a:r>
            <a:endParaRPr sz="2800" dirty="0"/>
          </a:p>
        </p:txBody>
      </p:sp>
      <p:sp>
        <p:nvSpPr>
          <p:cNvPr id="3" name="Rectangle 2"/>
          <p:cNvSpPr/>
          <p:nvPr/>
        </p:nvSpPr>
        <p:spPr>
          <a:xfrm>
            <a:off x="2375647" y="2727039"/>
            <a:ext cx="7548282" cy="45719"/>
          </a:xfrm>
          <a:prstGeom prst="rect">
            <a:avLst/>
          </a:prstGeom>
          <a:solidFill>
            <a:srgbClr val="00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FD4"/>
                </a:solidFill>
                <a:latin typeface="Calibri"/>
              </a:defRPr>
            </a:pPr>
            <a:r>
              <a:rPr dirty="0" err="1"/>
              <a:t>HealthHubQA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rPr dirty="0"/>
              <a:t>Ayomide Ogun-Ajala  |  21309903</a:t>
            </a:r>
            <a:br>
              <a:rPr dirty="0"/>
            </a:br>
            <a:r>
              <a:rPr dirty="0"/>
              <a:t>BSc Computer Science &amp; Software Engineering</a:t>
            </a:r>
            <a:br>
              <a:rPr dirty="0"/>
            </a:br>
            <a:br>
              <a:rPr dirty="0"/>
            </a:br>
            <a:r>
              <a:rPr dirty="0"/>
              <a:t>Supervisor: Dr. Kolawole Adebayo</a:t>
            </a:r>
            <a:br>
              <a:rPr dirty="0"/>
            </a:br>
            <a:r>
              <a:rPr dirty="0"/>
              <a:t>Maynooth University  |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Problem, Approach &amp;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39" y="768097"/>
            <a:ext cx="4597101" cy="45719"/>
          </a:xfrm>
          <a:prstGeom prst="rect">
            <a:avLst/>
          </a:prstGeom>
          <a:solidFill>
            <a:srgbClr val="00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FD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dirty="0">
                <a:solidFill>
                  <a:srgbClr val="CCCCCC"/>
                </a:solidFill>
                <a:latin typeface="Calibri"/>
              </a:rPr>
              <a:t>•  LLMs produce confident but factually wrong answers (hallucinations)</a:t>
            </a:r>
          </a:p>
          <a:p>
            <a:pPr>
              <a:spcAft>
                <a:spcPts val="500"/>
              </a:spcAft>
            </a:pPr>
            <a:r>
              <a:rPr sz="1400" dirty="0">
                <a:solidFill>
                  <a:srgbClr val="CCCCCC"/>
                </a:solidFill>
                <a:latin typeface="Calibri"/>
              </a:rPr>
              <a:t>•  In healthcare, wrong answers can cause patient harm</a:t>
            </a:r>
          </a:p>
          <a:p>
            <a:pPr>
              <a:spcAft>
                <a:spcPts val="500"/>
              </a:spcAft>
            </a:pPr>
            <a:r>
              <a:rPr sz="1400" dirty="0">
                <a:solidFill>
                  <a:srgbClr val="CCCCCC"/>
                </a:solidFill>
                <a:latin typeface="Calibri"/>
              </a:rPr>
              <a:t>•  Can we ground answers in real medical evidence to reduce this?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FD4"/>
                </a:solidFill>
                <a:latin typeface="Calibri"/>
              </a:defRPr>
            </a:pPr>
            <a:r>
              <a:t>Solution: RAG (Retrieval-Augmented Generation)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029200" cy="502920"/>
          </a:xfrm>
          <a:prstGeom prst="roundRect">
            <a:avLst/>
          </a:prstGeom>
          <a:solidFill>
            <a:srgbClr val="5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Without RAG = Closed-book exam</a:t>
            </a:r>
            <a:br/>
            <a:r>
              <a:t>AI answers from memory — may fabricate facts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029200" cy="594360"/>
          </a:xfrm>
          <a:prstGeom prst="roundRect">
            <a:avLst/>
          </a:prstGeom>
          <a:solidFill>
            <a:srgbClr val="1A3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With RAG = Open-book exam</a:t>
            </a:r>
            <a:br/>
            <a:r>
              <a:t>AI retrieves real medical papers first, reads them, THEN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FD4"/>
                </a:solidFill>
                <a:latin typeface="Calibri"/>
              </a:defRPr>
            </a:pPr>
            <a:r>
              <a:t>HealthHubQA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1737360" cy="6858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Medical</a:t>
            </a:r>
            <a:br/>
            <a:r>
              <a:t>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3383280"/>
            <a:ext cx="1737360" cy="685800"/>
          </a:xfrm>
          <a:prstGeom prst="roundRect">
            <a:avLst/>
          </a:prstGeom>
          <a:solidFill>
            <a:srgbClr val="00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Retriever</a:t>
            </a:r>
            <a:br/>
            <a:r>
              <a:t>(MiniLM-L6-v2)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383280"/>
            <a:ext cx="1737360" cy="685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Top-3</a:t>
            </a:r>
            <a:br/>
            <a:r>
              <a:t>Contexts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383280"/>
            <a:ext cx="1737360" cy="685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Generator</a:t>
            </a:r>
            <a:br/>
            <a:r>
              <a:t>(LLM)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3383280"/>
            <a:ext cx="1737360" cy="6858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Yes / No /</a:t>
            </a:r>
            <a:br/>
            <a:r>
              <a:t>Maybe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24160" y="3383280"/>
            <a:ext cx="173736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331720" y="3584448"/>
            <a:ext cx="320040" cy="274320"/>
          </a:xfrm>
          <a:prstGeom prst="rightArrow">
            <a:avLst/>
          </a:prstGeom>
          <a:solidFill>
            <a:srgbClr val="00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4389120" y="3584448"/>
            <a:ext cx="320040" cy="274320"/>
          </a:xfrm>
          <a:prstGeom prst="rightArrow">
            <a:avLst/>
          </a:prstGeom>
          <a:solidFill>
            <a:srgbClr val="00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6446520" y="3584448"/>
            <a:ext cx="320040" cy="274320"/>
          </a:xfrm>
          <a:prstGeom prst="rightArrow">
            <a:avLst/>
          </a:prstGeom>
          <a:solidFill>
            <a:srgbClr val="00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8503919" y="3584448"/>
            <a:ext cx="320040" cy="274320"/>
          </a:xfrm>
          <a:prstGeom prst="rightArrow">
            <a:avLst/>
          </a:prstGeom>
          <a:solidFill>
            <a:srgbClr val="00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10561319" y="3584448"/>
            <a:ext cx="320040" cy="274320"/>
          </a:xfrm>
          <a:prstGeom prst="rightArrow">
            <a:avLst/>
          </a:prstGeom>
          <a:solidFill>
            <a:srgbClr val="00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FD4"/>
                </a:solidFill>
                <a:latin typeface="Calibri"/>
              </a:defRPr>
            </a:pPr>
            <a:r>
              <a:t>4 Models Tested (× 2 conditions = 8 experiments)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75488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Chosen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Flan-T5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Instruction-tuned (Google)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Free baseline, follows instructions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250M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BioBART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Biomedical pre-trained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Tests domain-specific knowledge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140M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DistilBART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Distilled summariser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Tests weaker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306M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Phi-3 Mini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Small LLM (Microsoft)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Tests compact local 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3.8B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10058400" y="4754880"/>
            <a:ext cx="1554480" cy="822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PubMedQA</a:t>
            </a:r>
            <a:br/>
            <a:r>
              <a:t>500 docs</a:t>
            </a:r>
            <a:br/>
            <a:r>
              <a:t>100 test Qs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5669280"/>
            <a:ext cx="1554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Phi-3: 10 Qs</a:t>
            </a:r>
            <a:br/>
            <a:r>
              <a:t>(CPU limit)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Results: RAG Impact on Accuracy</a:t>
            </a:r>
          </a:p>
        </p:txBody>
      </p:sp>
      <p:sp>
        <p:nvSpPr>
          <p:cNvPr id="3" name="Rectangle 2"/>
          <p:cNvSpPr/>
          <p:nvPr/>
        </p:nvSpPr>
        <p:spPr>
          <a:xfrm flipV="1">
            <a:off x="548640" y="708660"/>
            <a:ext cx="4946725" cy="45719"/>
          </a:xfrm>
          <a:prstGeom prst="rect">
            <a:avLst/>
          </a:prstGeom>
          <a:solidFill>
            <a:srgbClr val="00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9601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No-RAG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 Change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(RAG)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Flan-T5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+15% 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BioBART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39C12"/>
                          </a:solidFill>
                          <a:latin typeface="Calibri"/>
                        </a:defRPr>
                      </a:pPr>
                      <a:r>
                        <a:t>  0%  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0.245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0.193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0.333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DistilBART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 -7% 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Phi-3 Mini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+10%  ↑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0.277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0.317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291840"/>
            <a:ext cx="3474720" cy="1371600"/>
          </a:xfrm>
          <a:prstGeom prst="roundRect">
            <a:avLst/>
          </a:prstGeom>
          <a:solidFill>
            <a:srgbClr val="1A3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ECC71"/>
                </a:solidFill>
                <a:latin typeface="Calibri"/>
              </a:defRPr>
            </a:pPr>
            <a:r>
              <a:t>Flan-T5: +15% with RAG</a:t>
            </a:r>
            <a:br/>
            <a:br/>
            <a:r>
              <a:t>Instruction-tuned model</a:t>
            </a:r>
            <a:br/>
            <a:r>
              <a:t>knows how to USE the</a:t>
            </a:r>
            <a:br/>
            <a:r>
              <a:t>retrieved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3291840"/>
            <a:ext cx="3474720" cy="1371600"/>
          </a:xfrm>
          <a:prstGeom prst="roundRect">
            <a:avLst/>
          </a:prstGeom>
          <a:solidFill>
            <a:srgbClr val="2C2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39C12"/>
                </a:solidFill>
                <a:latin typeface="Calibri"/>
              </a:defRPr>
            </a:pPr>
            <a:r>
              <a:t>BioBART: 58% both ways</a:t>
            </a:r>
            <a:br/>
            <a:br/>
            <a:r>
              <a:t>Medical pre-training already</a:t>
            </a:r>
            <a:br/>
            <a:r>
              <a:t>bakes in domain knowledge —</a:t>
            </a:r>
            <a:br/>
            <a:r>
              <a:t>RAG adds nothing new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291840"/>
            <a:ext cx="3566160" cy="1371600"/>
          </a:xfrm>
          <a:prstGeom prst="roundRect">
            <a:avLst/>
          </a:prstGeom>
          <a:solidFill>
            <a:srgbClr val="3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E74C3C"/>
                </a:solidFill>
                <a:latin typeface="Calibri"/>
              </a:defRPr>
            </a:pPr>
            <a:r>
              <a:t>DistilBART: -7% with RAG</a:t>
            </a:r>
            <a:br/>
            <a:br/>
            <a:r>
              <a:t>Summarisation model gets</a:t>
            </a:r>
            <a:br/>
            <a:r>
              <a:t>CONFUSED by extra context —</a:t>
            </a:r>
            <a:br/>
            <a:r>
              <a:t>RAG is NOT universal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Accuracy = correct yes/no/maybe predictions  |  Macro F1 = balanced across all 3 classes  |  Phi-3 ran on CPU (10 samples only — promising signal, needs more data to confirm)  |  BioBART: best no-RAG model  |  Flan-T5: biggest reliable RAG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Key Findings &amp; Engineering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68096"/>
            <a:ext cx="5760720" cy="45719"/>
          </a:xfrm>
          <a:prstGeom prst="rect">
            <a:avLst/>
          </a:prstGeom>
          <a:solidFill>
            <a:srgbClr val="00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5486400" cy="822960"/>
          </a:xfrm>
          <a:prstGeom prst="roundRect">
            <a:avLst/>
          </a:prstGeom>
          <a:solidFill>
            <a:srgbClr val="1A3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1. RAG Improves Instruction-Tuned Models</a:t>
            </a:r>
            <a:br/>
            <a:r>
              <a:t>Flan-T5: 40% → 55%  (+15 points)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05840"/>
            <a:ext cx="5303520" cy="822960"/>
          </a:xfrm>
          <a:prstGeom prst="roundRect">
            <a:avLst/>
          </a:prstGeom>
          <a:solidFill>
            <a:srgbClr val="3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2. RAG Can Hurt Wrong Architectures</a:t>
            </a:r>
            <a:br/>
            <a:r>
              <a:t>DistilBART: 39% → 32%  (-7 points)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822960"/>
          </a:xfrm>
          <a:prstGeom prst="roundRect">
            <a:avLst/>
          </a:prstGeom>
          <a:solidFill>
            <a:srgbClr val="2C2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39C12"/>
                </a:solidFill>
                <a:latin typeface="Calibri"/>
              </a:defRPr>
            </a:pPr>
            <a:r>
              <a:t>3. Domain Pre-Training = Strong Alternative</a:t>
            </a:r>
            <a:br/>
            <a:r>
              <a:t>BioBART: 58% without any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303520" cy="822960"/>
          </a:xfrm>
          <a:prstGeom prst="roundRect">
            <a:avLst/>
          </a:prstGeom>
          <a:solidFill>
            <a:srgbClr val="1B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9FD4"/>
                </a:solidFill>
                <a:latin typeface="Calibri"/>
              </a:defRPr>
            </a:pPr>
            <a:r>
              <a:t>4. Practical Constraints Matter</a:t>
            </a:r>
            <a:br/>
            <a:r>
              <a:t>RAM: Phi-3 (2.2GB) vs Llama (4.6GB — too large for laptop)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Engineering Challenges Solved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52044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Cause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07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FAISS crash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NumPy 2.x broke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sklearn cosine 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Same results,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Llama 3 too large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4.6GB RAM needed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Switched to Phi-3 Mini (2.2GB)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Runs on laptop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T5 tokenizer broke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Library version conflict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Replaced with BioBART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Better: biomedical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API quota exhausted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 billing credits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Error handling + logging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 data lost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Literature: Lewis et al. (2020) RAG  |  Zuo &amp; Jiang (2025) MedHallBench  |  Ji et al. (2023) Self-Reflection  |  Asgari et al. (2025) Clinical Safety  |  Sok et al. (2025) MetaRAG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22378"/>
            <a:ext cx="4283336" cy="45719"/>
          </a:xfrm>
          <a:prstGeom prst="rect">
            <a:avLst/>
          </a:prstGeom>
          <a:solidFill>
            <a:srgbClr val="00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64240" cy="548640"/>
          </a:xfrm>
          <a:prstGeom prst="roundRect">
            <a:avLst/>
          </a:prstGeom>
          <a:solidFill>
            <a:srgbClr val="1A3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1.  RAG reduces hallucinations for instruction-tuned models  (Flan-T5: 40% → 55%)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64240" cy="548640"/>
          </a:xfrm>
          <a:prstGeom prst="roundRect">
            <a:avLst/>
          </a:prstGeom>
          <a:solidFill>
            <a:srgbClr val="3C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E74C3C"/>
                </a:solidFill>
                <a:latin typeface="Calibri"/>
              </a:defRPr>
            </a:pPr>
            <a:r>
              <a:t>2.  Not all models benefit — architecture matters  (DistilBART: 39% → 32%  ↓)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1064240" cy="548640"/>
          </a:xfrm>
          <a:prstGeom prst="roundRect">
            <a:avLst/>
          </a:prstGeom>
          <a:solidFill>
            <a:srgbClr val="2C2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39C12"/>
                </a:solidFill>
                <a:latin typeface="Calibri"/>
              </a:defRPr>
            </a:pPr>
            <a:r>
              <a:t>3.  Domain pre-training (BioBART 58%) is a viable alternative to retrieval augmentation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Contribution: A comparative multi-model study proving RAG effectiveness</a:t>
            </a:r>
            <a:br/>
            <a:r>
              <a:t>varies by architecture — it is not a universal solution for healthcare QA.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FD4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113" y="4160520"/>
            <a:ext cx="1828800" cy="822960"/>
          </a:xfrm>
          <a:prstGeom prst="roundRect">
            <a:avLst/>
          </a:prstGeom>
          <a:solidFill>
            <a:srgbClr val="00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Self-Reflection</a:t>
            </a:r>
            <a:br>
              <a:rPr dirty="0"/>
            </a:br>
            <a:r>
              <a:rPr dirty="0"/>
              <a:t>AI checks own answer</a:t>
            </a:r>
            <a:br>
              <a:rPr dirty="0"/>
            </a:br>
            <a:r>
              <a:rPr dirty="0"/>
              <a:t>before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7793" y="4160520"/>
            <a:ext cx="182880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More Datasets</a:t>
            </a:r>
            <a:br>
              <a:rPr dirty="0"/>
            </a:br>
            <a:r>
              <a:rPr dirty="0" err="1"/>
              <a:t>MedQA</a:t>
            </a:r>
            <a:r>
              <a:rPr dirty="0"/>
              <a:t>, </a:t>
            </a:r>
            <a:r>
              <a:rPr dirty="0" err="1"/>
              <a:t>MedMCQA</a:t>
            </a:r>
            <a:br>
              <a:rPr dirty="0"/>
            </a:br>
            <a:r>
              <a:rPr dirty="0"/>
              <a:t>cross-domain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9473" y="4160520"/>
            <a:ext cx="182880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FACTSCORE</a:t>
            </a:r>
            <a:br>
              <a:rPr dirty="0"/>
            </a:br>
            <a:r>
              <a:rPr dirty="0"/>
              <a:t>Direct hallucination</a:t>
            </a:r>
            <a:br>
              <a:rPr dirty="0"/>
            </a:br>
            <a:r>
              <a:rPr dirty="0"/>
              <a:t>measurement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1153" y="4160520"/>
            <a:ext cx="182880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Web Demo</a:t>
            </a:r>
            <a:br>
              <a:rPr dirty="0"/>
            </a:br>
            <a:r>
              <a:rPr dirty="0" err="1"/>
              <a:t>Streamlit</a:t>
            </a:r>
            <a:r>
              <a:rPr dirty="0"/>
              <a:t>/Flask</a:t>
            </a:r>
            <a:br>
              <a:rPr dirty="0"/>
            </a:br>
            <a:r>
              <a:rPr dirty="0"/>
              <a:t>live QA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2833" y="4160520"/>
            <a:ext cx="1828800" cy="8229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GPU Testing</a:t>
            </a:r>
            <a:br/>
            <a:r>
              <a:t>Larger models at</a:t>
            </a:r>
            <a:br/>
            <a:r>
              <a:t>full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20" y="4160520"/>
            <a:ext cx="1828800" cy="82296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Clinical Safety</a:t>
            </a:r>
            <a:br/>
            <a:r>
              <a:t>Risk-aware</a:t>
            </a:r>
            <a:br/>
            <a:r>
              <a:t>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Thank You — 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Calibri"/>
              </a:defRPr>
            </a:pPr>
            <a:r>
              <a:t>4 models  •  8 experiments  •  500 documents  •  17 scripts  •  2,500+ lines of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Ayomide Ogun-Ajala  |  21309903  |  Dr. Kolawole Adebayo  |  Maynooth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1353</Words>
  <Application>Microsoft Office PowerPoint</Application>
  <PresentationFormat>Widescreen</PresentationFormat>
  <Paragraphs>173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Ayomide Ogun-Ajala</cp:lastModifiedBy>
  <cp:revision>2</cp:revision>
  <dcterms:created xsi:type="dcterms:W3CDTF">2013-01-27T09:14:16Z</dcterms:created>
  <dcterms:modified xsi:type="dcterms:W3CDTF">2026-04-06T17:33:36Z</dcterms:modified>
  <cp:category/>
</cp:coreProperties>
</file>